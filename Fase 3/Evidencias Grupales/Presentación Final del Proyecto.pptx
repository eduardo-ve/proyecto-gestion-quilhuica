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ck0S8En4lBUe3thbT9Qyyq1Cv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	</a:t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</a:t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</a:t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Felipe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Felipe</a:t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 </a:t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Marco</a:t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</a:t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Marco</a:t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Marco</a:t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f4bb975f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Marco</a:t>
            </a:r>
            <a:endParaRPr/>
          </a:p>
        </p:txBody>
      </p:sp>
      <p:sp>
        <p:nvSpPr>
          <p:cNvPr id="173" name="Google Shape;173;g3af4bb975f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Marco = </a:t>
            </a:r>
            <a:r>
              <a:rPr b="1" lang="es-CL">
                <a:solidFill>
                  <a:schemeClr val="dk1"/>
                </a:solidFill>
              </a:rPr>
              <a:t>Login, Dashboard</a:t>
            </a:r>
            <a:r>
              <a:rPr lang="es-CL">
                <a:solidFill>
                  <a:schemeClr val="dk1"/>
                </a:solidFill>
              </a:rPr>
              <a:t>; Felipe = </a:t>
            </a:r>
            <a:r>
              <a:rPr b="1" lang="es-CL">
                <a:solidFill>
                  <a:schemeClr val="dk1"/>
                </a:solidFill>
              </a:rPr>
              <a:t>Casetas, Equipos, Notificaciones</a:t>
            </a:r>
            <a:r>
              <a:rPr lang="es-CL">
                <a:solidFill>
                  <a:schemeClr val="dk1"/>
                </a:solidFill>
              </a:rPr>
              <a:t>; </a:t>
            </a:r>
            <a:r>
              <a:rPr lang="es-CL"/>
              <a:t>Eduardo =</a:t>
            </a:r>
            <a:r>
              <a:rPr b="1" lang="es-CL"/>
              <a:t>Productos,</a:t>
            </a:r>
            <a:r>
              <a:rPr lang="es-CL"/>
              <a:t> </a:t>
            </a:r>
            <a:r>
              <a:rPr b="1" lang="es-CL"/>
              <a:t>Aplicaciones, Registros</a:t>
            </a:r>
            <a:r>
              <a:rPr lang="es-CL"/>
              <a:t>; </a:t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Felipe</a:t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Eduardo: Disponibilidad del cliente, Marco: </a:t>
            </a:r>
            <a:r>
              <a:rPr lang="es-CL"/>
              <a:t>Tecnologías</a:t>
            </a:r>
            <a:r>
              <a:rPr lang="es-CL"/>
              <a:t> del despliegue, Felipe: Conocimiento control </a:t>
            </a:r>
            <a:r>
              <a:rPr lang="es-CL"/>
              <a:t>versiones.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cedab5aca_0_76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acedab5aca_0_76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acedab5aca_0_7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cedab5aca_0_772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acedab5aca_0_7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cedab5aca_0_77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acedab5aca_0_77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acedab5aca_0_7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cedab5aca_0_77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acedab5aca_0_77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acedab5aca_0_77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acedab5aca_0_7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cedab5aca_0_78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acedab5aca_0_7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cedab5aca_0_78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acedab5aca_0_78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acedab5aca_0_78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cedab5aca_0_79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acedab5aca_0_7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cedab5aca_0_79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cedab5aca_0_79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acedab5aca_0_79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acedab5aca_0_79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acedab5aca_0_7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cedab5aca_0_80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acedab5aca_0_8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cedab5aca_0_80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acedab5aca_0_80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acedab5aca_0_80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cedab5aca_0_8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cedab5aca_0_76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acedab5aca_0_76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acedab5aca_0_7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25.jp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20.png"/><Relationship Id="rId13" Type="http://schemas.openxmlformats.org/officeDocument/2006/relationships/image" Target="../media/image16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9" Type="http://schemas.openxmlformats.org/officeDocument/2006/relationships/image" Target="../media/image13.gif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9" Type="http://schemas.openxmlformats.org/officeDocument/2006/relationships/hyperlink" Target="https://trello.com/b/9tui96mI/sprint-2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hyperlink" Target="https://github.com/Eduardo-Ve/Proyecto-Gestion-Quilhuica/tree/mai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hyperlink" Target="https://gestion-quilhuica.onlin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" title="FQ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850" y="3930117"/>
            <a:ext cx="2706307" cy="270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63" name="Google Shape;6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Alvarado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Full-Stack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Eduardo Velásquez Vilches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Full-Stack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Marco Oviedo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Full-Stack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07399" y="3126956"/>
              <a:ext cx="954000" cy="1087800"/>
            </a:xfrm>
            <a:prstGeom prst="roundRect">
              <a:avLst>
                <a:gd fmla="val 10024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-10448" t="0"/>
          <a:stretch/>
        </p:blipFill>
        <p:spPr>
          <a:xfrm>
            <a:off x="4528375" y="4839200"/>
            <a:ext cx="1053725" cy="10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8375" y="3341650"/>
            <a:ext cx="877226" cy="10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4003" y="1785300"/>
            <a:ext cx="925976" cy="127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0" name="Google Shape;8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&amp; VISIÓN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Fundo Quilhuica, la gestión manual de inventarios y el registro de aplicaciones agrícolas en papel generan información dispersa, riesgos de errores y falta de trazabilidad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que centraliza el inventario y la trazabilidad agrícola del Fundo, permitiendo registrar movimientos, aplicaciones y generar respaldo fiable de toda la información.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0" y="9176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4"/>
          <p:cNvSpPr txBox="1"/>
          <p:nvPr/>
        </p:nvSpPr>
        <p:spPr>
          <a:xfrm>
            <a:off x="77825" y="32348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5865" y="1564096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Desarrollar un sistema web de gestión de inventario para el Fundo Quilhuica que optimice el control, registro y distribución de productos químicos e insumos agrícolas, reduciendo errores, automatizando procesos y mejorando la toma de decisiones.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5875" y="3976697"/>
            <a:ext cx="10962900" cy="23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Diseñar e implementar una base de datos relacional</a:t>
            </a:r>
            <a:r>
              <a:rPr lang="es-CL" sz="1300">
                <a:solidFill>
                  <a:schemeClr val="dk1"/>
                </a:solidFill>
              </a:rPr>
              <a:t> para almacenar de forma segura la información del inventario.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Desarrollar módulos web</a:t>
            </a:r>
            <a:r>
              <a:rPr lang="es-CL" sz="1300">
                <a:solidFill>
                  <a:schemeClr val="dk1"/>
                </a:solidFill>
              </a:rPr>
              <a:t> para agregar, editar, eliminar y distribuir productos entre casetas.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Implementar un sistema de alertas</a:t>
            </a:r>
            <a:r>
              <a:rPr lang="es-CL" sz="1300">
                <a:solidFill>
                  <a:schemeClr val="dk1"/>
                </a:solidFill>
              </a:rPr>
              <a:t> para identificar bajo stock y productos próximos a expirar.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Generar reportes visuales y automáticos</a:t>
            </a:r>
            <a:r>
              <a:rPr lang="es-CL" sz="1300">
                <a:solidFill>
                  <a:schemeClr val="dk1"/>
                </a:solidFill>
              </a:rPr>
              <a:t> que apoyen la gestión del supervisor y del gerente.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Aplicar la metodología ágil Scrum</a:t>
            </a:r>
            <a:r>
              <a:rPr lang="es-CL" sz="1300">
                <a:solidFill>
                  <a:schemeClr val="dk1"/>
                </a:solidFill>
              </a:rPr>
              <a:t> durante el desarrollo para lograr avances iterativos y ajustados al cliente.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Realizar pruebas basadas en ISO 25010</a:t>
            </a:r>
            <a:r>
              <a:rPr lang="es-CL" sz="1300">
                <a:solidFill>
                  <a:schemeClr val="dk1"/>
                </a:solidFill>
              </a:rPr>
              <a:t> para asegurar calidad, usabilidad y buen desempeño del sistema.</a:t>
            </a:r>
            <a:endParaRPr sz="1300">
              <a:solidFill>
                <a:schemeClr val="dk1"/>
              </a:solidFill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04" name="Google Shape;10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859700" y="2480350"/>
            <a:ext cx="4842000" cy="3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</a:rPr>
              <a:t>Alcances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Gestión de inventario de productos agrícolas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Gestión de bodegas, equipos y sectores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Trazabilidad de aplicaciones de productos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Reportes y respaldo de la información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Acceso web y PWA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6694175" y="2480350"/>
            <a:ext cx="4842000" cy="3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</a:rPr>
              <a:t>Limitaciones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Tiempo para comenzar el proyecto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La aplicación no incluye integración con el sistema de </a:t>
            </a:r>
            <a:r>
              <a:rPr lang="es-CL" sz="2400">
                <a:solidFill>
                  <a:schemeClr val="dk1"/>
                </a:solidFill>
              </a:rPr>
              <a:t>Drop Control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999975" y="2383775"/>
            <a:ext cx="36069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</a:rPr>
              <a:t>Metodología</a:t>
            </a:r>
            <a:r>
              <a:rPr lang="es-CL" sz="2400">
                <a:solidFill>
                  <a:schemeClr val="dk1"/>
                </a:solidFill>
              </a:rPr>
              <a:t> SCRUM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1007950" y="3053500"/>
            <a:ext cx="5909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Desarrollo por iteraciones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Reuniones y feedback con el equipo y el cliente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Adaptaciones y flexibilidad en caso de cambios si lo requería el cliente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18" name="Google Shape;118;p6" title="SCRU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9750" y="2221511"/>
            <a:ext cx="4969851" cy="331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1" y="99290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7"/>
          <p:cNvSpPr txBox="1"/>
          <p:nvPr/>
        </p:nvSpPr>
        <p:spPr>
          <a:xfrm>
            <a:off x="288588" y="5213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7425" y="3926871"/>
            <a:ext cx="8814326" cy="150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3126" y="2322075"/>
            <a:ext cx="8862949" cy="134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8" title="Diagrama en blanc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688" y="2448318"/>
            <a:ext cx="10330620" cy="410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/>
          <p:nvPr/>
        </p:nvSpPr>
        <p:spPr>
          <a:xfrm>
            <a:off x="0" y="434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44" name="Google Shape;14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9"/>
          <p:cNvSpPr txBox="1"/>
          <p:nvPr/>
        </p:nvSpPr>
        <p:spPr>
          <a:xfrm>
            <a:off x="152190" y="294650"/>
            <a:ext cx="186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9" title="Diagrama ER de base de dato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2225" y="1174375"/>
            <a:ext cx="7322450" cy="547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299225" y="2176175"/>
            <a:ext cx="8807400" cy="4340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scuelaIT Duoc UC - Escuela de Informática y Telecomunicaciones Duoc UC - Duoc  UC | LinkedIn"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0"/>
          <p:cNvSpPr txBox="1"/>
          <p:nvPr/>
        </p:nvSpPr>
        <p:spPr>
          <a:xfrm>
            <a:off x="-39025" y="11438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3292309" y="2314050"/>
            <a:ext cx="349200" cy="3864600"/>
          </a:xfrm>
          <a:prstGeom prst="rightBrace">
            <a:avLst>
              <a:gd fmla="val 50000" name="adj1"/>
              <a:gd fmla="val 48103" name="adj2"/>
            </a:avLst>
          </a:prstGeom>
          <a:noFill/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/>
          </a:p>
        </p:txBody>
      </p:sp>
      <p:pic>
        <p:nvPicPr>
          <p:cNvPr descr="File:Javascript-shield.svg - Wikimedia Commons" id="157" name="Google Shape;15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161" y="4661906"/>
            <a:ext cx="714126" cy="914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HTML5 logo and wordmark.svg - Wikipedia, la enciclopedia libre" id="158" name="Google Shape;15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424" y="3197621"/>
            <a:ext cx="914693" cy="914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CSS3 logo and wordmark.svg - Wikipedia, la enciclopedia libre" id="159" name="Google Shape;15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7160" y="3197624"/>
            <a:ext cx="714128" cy="1008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Bootstrap logo.svg - Wikipedia, la enciclopedia libre" id="160" name="Google Shape;16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525" y="4876302"/>
            <a:ext cx="810493" cy="646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Django logo.svg - Wikipedia, la enciclopedia libre" id="161" name="Google Shape;16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16131" y="3279748"/>
            <a:ext cx="1863942" cy="646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python logo with a white circle in the middle on a white background . (proporcionado por Tenor)" id="162" name="Google Shape;162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46245" y="3245950"/>
            <a:ext cx="714128" cy="7141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 txBox="1"/>
          <p:nvPr/>
        </p:nvSpPr>
        <p:spPr>
          <a:xfrm>
            <a:off x="668890" y="2373310"/>
            <a:ext cx="2197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74">
                <a:solidFill>
                  <a:schemeClr val="dk2"/>
                </a:solidFill>
              </a:rPr>
              <a:t>FRONT-END</a:t>
            </a:r>
            <a:endParaRPr sz="2174">
              <a:solidFill>
                <a:schemeClr val="dk2"/>
              </a:solidFill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6409026" y="2373298"/>
            <a:ext cx="2197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74">
                <a:solidFill>
                  <a:schemeClr val="dk2"/>
                </a:solidFill>
              </a:rPr>
              <a:t>BACK</a:t>
            </a:r>
            <a:r>
              <a:rPr lang="es-CL" sz="2174">
                <a:solidFill>
                  <a:schemeClr val="dk2"/>
                </a:solidFill>
              </a:rPr>
              <a:t>-END</a:t>
            </a:r>
            <a:endParaRPr sz="2174">
              <a:solidFill>
                <a:schemeClr val="dk2"/>
              </a:solidFill>
            </a:endParaRPr>
          </a:p>
        </p:txBody>
      </p:sp>
      <p:pic>
        <p:nvPicPr>
          <p:cNvPr descr="File:Database-postgres.svg - Wikimedia Commons" id="165" name="Google Shape;165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50587" y="4472585"/>
            <a:ext cx="914674" cy="1293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3794340" y="4011942"/>
            <a:ext cx="13341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850" lIns="82850" spcFirstLastPara="1" rIns="82850" wrap="square" tIns="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87"/>
              <a:t>Comunicación </a:t>
            </a:r>
            <a:endParaRPr sz="1087"/>
          </a:p>
        </p:txBody>
      </p:sp>
      <p:sp>
        <p:nvSpPr>
          <p:cNvPr id="167" name="Google Shape;167;p10"/>
          <p:cNvSpPr/>
          <p:nvPr/>
        </p:nvSpPr>
        <p:spPr>
          <a:xfrm flipH="1">
            <a:off x="4966931" y="2314050"/>
            <a:ext cx="349200" cy="3864600"/>
          </a:xfrm>
          <a:prstGeom prst="rightBrace">
            <a:avLst>
              <a:gd fmla="val 50000" name="adj1"/>
              <a:gd fmla="val 48103" name="adj2"/>
            </a:avLst>
          </a:prstGeom>
          <a:noFill/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850" lIns="82850" spcFirstLastPara="1" rIns="82850" wrap="square" tIns="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/>
          </a:p>
        </p:txBody>
      </p:sp>
      <p:pic>
        <p:nvPicPr>
          <p:cNvPr descr="Archivo:GitHub Invertocat Logo.svg - Wikipedia, la enciclopedia libre" id="168" name="Google Shape;168;p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331274" y="2323353"/>
            <a:ext cx="1138450" cy="11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Visual Studio Code 1.35 icon.svg - Wikipedia, la ..." id="169" name="Google Shape;169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331275" y="3742675"/>
            <a:ext cx="1138450" cy="11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ntu trello.svg - Wikimedia Commons" id="170" name="Google Shape;170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331276" y="5030900"/>
            <a:ext cx="1138450" cy="11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g3af4bb975fc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af4bb975fc_1_0"/>
          <p:cNvSpPr txBox="1"/>
          <p:nvPr/>
        </p:nvSpPr>
        <p:spPr>
          <a:xfrm>
            <a:off x="0" y="9391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7" name="Google Shape;177;g3af4bb975fc_1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g3af4bb975fc_1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Gestión Quilhuica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g3af4bb975fc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963" y="2011925"/>
            <a:ext cx="5869601" cy="1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af4bb975fc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8839" y="3648850"/>
            <a:ext cx="5919850" cy="2952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af4bb975fc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313" y="3653068"/>
            <a:ext cx="5896926" cy="2943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af4bb975fc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638" y="2011925"/>
            <a:ext cx="5869599" cy="15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af4bb975fc_1_0"/>
          <p:cNvSpPr txBox="1"/>
          <p:nvPr/>
        </p:nvSpPr>
        <p:spPr>
          <a:xfrm>
            <a:off x="2080838" y="1585625"/>
            <a:ext cx="196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8"/>
              </a:rPr>
              <a:t>GitHub del proyecto</a:t>
            </a:r>
            <a:endParaRPr/>
          </a:p>
        </p:txBody>
      </p:sp>
      <p:sp>
        <p:nvSpPr>
          <p:cNvPr id="184" name="Google Shape;184;g3af4bb975fc_1_0"/>
          <p:cNvSpPr txBox="1"/>
          <p:nvPr/>
        </p:nvSpPr>
        <p:spPr>
          <a:xfrm>
            <a:off x="7628775" y="1585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9"/>
              </a:rPr>
              <a:t>Trello Sprint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5196750" y="3846900"/>
            <a:ext cx="179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Gestión Quilhuica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958550" y="2717500"/>
            <a:ext cx="10435200" cy="3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El resultado obtenido es una aplicación web funcional que sirve para administrar productos, casetas y </a:t>
            </a:r>
            <a:r>
              <a:rPr lang="es-CL" sz="2400">
                <a:solidFill>
                  <a:schemeClr val="dk1"/>
                </a:solidFill>
              </a:rPr>
              <a:t>aplicaciones</a:t>
            </a:r>
            <a:r>
              <a:rPr lang="es-CL" sz="2400">
                <a:solidFill>
                  <a:schemeClr val="dk1"/>
                </a:solidFill>
              </a:rPr>
              <a:t> de productos dentro del Fundo Quilhuica, así como </a:t>
            </a:r>
            <a:r>
              <a:rPr lang="es-CL" sz="2400">
                <a:solidFill>
                  <a:schemeClr val="dk1"/>
                </a:solidFill>
              </a:rPr>
              <a:t>también fuente de información de los procesos internos en relación a esto.</a:t>
            </a:r>
            <a:r>
              <a:rPr lang="es-CL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958550" y="2717500"/>
            <a:ext cx="10435200" cy="3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s-CL" sz="2400">
                <a:solidFill>
                  <a:schemeClr val="dk1"/>
                </a:solidFill>
              </a:rPr>
              <a:t>Los principales </a:t>
            </a:r>
            <a:r>
              <a:rPr lang="es-CL" sz="2400">
                <a:solidFill>
                  <a:schemeClr val="dk1"/>
                </a:solidFill>
              </a:rPr>
              <a:t>obstáculos</a:t>
            </a:r>
            <a:r>
              <a:rPr lang="es-CL" sz="2400">
                <a:solidFill>
                  <a:schemeClr val="dk1"/>
                </a:solidFill>
              </a:rPr>
              <a:t> durante el desarrollo que presentamos fueron: 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s-CL" sz="2400">
                <a:solidFill>
                  <a:schemeClr val="dk1"/>
                </a:solidFill>
              </a:rPr>
              <a:t>Disponibilidad del cliente para ciertas </a:t>
            </a:r>
            <a:r>
              <a:rPr lang="es-CL" sz="2400">
                <a:solidFill>
                  <a:schemeClr val="dk1"/>
                </a:solidFill>
              </a:rPr>
              <a:t>reuniones.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s-CL" sz="2400">
                <a:solidFill>
                  <a:schemeClr val="dk1"/>
                </a:solidFill>
              </a:rPr>
              <a:t>Usar tecnologías para el despliegue de la aplicación.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s-CL" sz="2400">
                <a:solidFill>
                  <a:schemeClr val="dk1"/>
                </a:solidFill>
              </a:rPr>
              <a:t>Conocimiento en el control de versiones.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0x0101006F1B02CEF81F34489ECFFD1EEC644E92</vt:lpwstr>
  </property>
</Properties>
</file>